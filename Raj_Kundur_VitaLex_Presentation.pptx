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12192000"/>
  <p:embeddedFontLst>
    <p:embeddedFont>
      <p:font typeface="Poppins Light" panose="000004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Light" panose="020000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626" autoAdjust="0"/>
  </p:normalViewPr>
  <p:slideViewPr>
    <p:cSldViewPr snapToGrid="0" snapToObjects="1">
      <p:cViewPr varScale="1">
        <p:scale>
          <a:sx n="53" d="100"/>
          <a:sy n="53" d="100"/>
        </p:scale>
        <p:origin x="138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27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F067-0EFB-E522-965D-A088933A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E164F-7711-1B9A-0258-032CCE915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F8AEF-F78A-FF3D-0E93-1E7EEE713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A838A-5A09-FCBD-A4A2-77ECB087C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41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talex.vercel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jK158/VitaL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0F9F32-C41D-F475-C85B-AE7C34942ABE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661475" y="159008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VitaLex: Healthcare Content Management and Policy Intelligence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4549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Turning healthcare policies, contracts, and guidelines into summaries, comparisons, and usable rules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462959"/>
            <a:ext cx="4376926" cy="355203"/>
          </a:xfrm>
          <a:prstGeom prst="roundRect">
            <a:avLst>
              <a:gd name="adj" fmla="val 17880"/>
            </a:avLst>
          </a:prstGeom>
          <a:solidFill>
            <a:srgbClr val="4D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4879" y="4519613"/>
            <a:ext cx="475970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 KUNDUR · CALIFORNIA STATE UNIVERSITY, LONG BEACH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912618"/>
            <a:ext cx="2239311" cy="355203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4879" y="4969272"/>
            <a:ext cx="262208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Cotiviti Internship Assessment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C33949-3378-39B5-799A-90CFD1B1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25"/>
          <a:stretch>
            <a:fillRect/>
          </a:stretch>
        </p:blipFill>
        <p:spPr>
          <a:xfrm>
            <a:off x="7962248" y="1"/>
            <a:ext cx="37543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381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Problem: Too Much Policy, Too Little Clarity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2062063"/>
            <a:ext cx="62968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Healthcare organizations manage massive volumes of billing policies, coding rules, clinical guidelines, payer-provider contracts, and reimbursement requirements. These documents are long, frequently updated, and manually interpreted by different teams — creating delays, claim errors, compliance risk, and inconsistent decisions.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3654425"/>
            <a:ext cx="3063104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19193" y="3840262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Delays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9193" y="4223048"/>
            <a:ext cx="269144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 review slows operational decisions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67017" y="3654425"/>
            <a:ext cx="3063203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52849" y="3840262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Claim Errors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52849" y="4223048"/>
            <a:ext cx="26915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Inconsistent interpretation drives rework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5139630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19193" y="5325467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Compliance Risk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193" y="5708253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Outdated rules expose organizations to audit findings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2DB419-D42B-33A9-6A58-7E32F3BE959E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76709"/>
            <a:ext cx="5888287" cy="33367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87207" y="691158"/>
            <a:ext cx="1203096" cy="286345"/>
          </a:xfrm>
          <a:prstGeom prst="roundRect">
            <a:avLst>
              <a:gd name="adj" fmla="val 18853"/>
            </a:avLst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083546" y="739279"/>
            <a:ext cx="1620003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TOPIC OVERVIEW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987207" y="1032073"/>
            <a:ext cx="3549264" cy="251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Content Management Is More Than Document Storage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987207" y="3678833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True healthcare content management means organizing complex documents, summarizing key points, comparing versions, and converting written policy language into structured, actionable rules.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4911080"/>
            <a:ext cx="240996" cy="2410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3551" y="4906169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Organize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83551" y="5239048"/>
            <a:ext cx="482697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 complex healthcare documents with metadata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398" y="4911080"/>
            <a:ext cx="240996" cy="2410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03249" y="4906169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Summarize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703249" y="5239048"/>
            <a:ext cx="482697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Extract key policy points using AI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5754737"/>
            <a:ext cx="240996" cy="2410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3551" y="5749826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Compare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83551" y="6082705"/>
            <a:ext cx="482697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 changes between document versions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398" y="5754737"/>
            <a:ext cx="240996" cy="2410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03249" y="5749826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Operationalize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703249" y="6082705"/>
            <a:ext cx="482697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 text into structured, usable rules</a:t>
            </a:r>
            <a:endParaRPr lang="en-US" sz="12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9E2D1B-C1E4-C694-A07E-AE65ECB788CE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741950-665D-422C-1F61-E025B0B63C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61" t="3058"/>
          <a:stretch>
            <a:fillRect/>
          </a:stretch>
        </p:blipFill>
        <p:spPr>
          <a:xfrm>
            <a:off x="207817" y="193964"/>
            <a:ext cx="7266143" cy="435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409"/>
            <a:ext cx="6248641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Trends and Opportunities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2097" y="1514475"/>
            <a:ext cx="5474059" cy="4646017"/>
          </a:xfrm>
          <a:prstGeom prst="roundRect">
            <a:avLst>
              <a:gd name="adj" fmla="val 2783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1579" y="1685032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Industry Trends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579" y="2157413"/>
            <a:ext cx="2472271" cy="1250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8058" y="2362299"/>
            <a:ext cx="196091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Rising administrative burden on payors and providers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403" y="2157413"/>
            <a:ext cx="2472271" cy="12500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0882" y="2362299"/>
            <a:ext cx="196091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Increasingly complex payer and coding policies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579" y="3578027"/>
            <a:ext cx="2472271" cy="1250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8058" y="3782913"/>
            <a:ext cx="196091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 on interoperability and prior authorization modernization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403" y="3578027"/>
            <a:ext cx="2472271" cy="125005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60882" y="3782913"/>
            <a:ext cx="196091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Growth of AI summarization and document intelligence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79" y="4998641"/>
            <a:ext cx="2472271" cy="9699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8058" y="5203527"/>
            <a:ext cx="196091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Demand for explainable, auditable automation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6191889" y="1514475"/>
            <a:ext cx="5474059" cy="4646017"/>
          </a:xfrm>
          <a:prstGeom prst="roundRect">
            <a:avLst>
              <a:gd name="adj" fmla="val 2783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6371371" y="1685032"/>
            <a:ext cx="35939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the Opportunity Lies</a:t>
            </a:r>
            <a:endParaRPr lang="en-US" sz="1750" dirty="0"/>
          </a:p>
        </p:txBody>
      </p:sp>
      <p:sp>
        <p:nvSpPr>
          <p:cNvPr id="17" name="Shape 10"/>
          <p:cNvSpPr/>
          <p:nvPr/>
        </p:nvSpPr>
        <p:spPr>
          <a:xfrm>
            <a:off x="6371371" y="2157413"/>
            <a:ext cx="2472271" cy="1663402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6557203" y="2343249"/>
            <a:ext cx="21006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Faster Policy Review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6557203" y="3074789"/>
            <a:ext cx="210060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Reduce turnaround time for policy analysis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9014195" y="2157413"/>
            <a:ext cx="2472271" cy="1663402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9200027" y="2343249"/>
            <a:ext cx="21006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Better Change Detection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9200027" y="3074789"/>
            <a:ext cx="210060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Surface version differences automatically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371371" y="3991372"/>
            <a:ext cx="2472271" cy="1943497"/>
          </a:xfrm>
          <a:prstGeom prst="roundRect">
            <a:avLst>
              <a:gd name="adj" fmla="val 388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557203" y="4177209"/>
            <a:ext cx="21006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Consistent Rule Interpretation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6557203" y="4908748"/>
            <a:ext cx="210060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Standardize how teams apply policy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9014195" y="3991372"/>
            <a:ext cx="2472271" cy="1943497"/>
          </a:xfrm>
          <a:prstGeom prst="roundRect">
            <a:avLst>
              <a:gd name="adj" fmla="val 388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9200027" y="4177209"/>
            <a:ext cx="21006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Improved Workflows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9200027" y="4908748"/>
            <a:ext cx="210060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Strengthen billing, coding, and compliance operations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355432-424C-D9CF-01B1-4C62E68C01E4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8994"/>
            <a:ext cx="535450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Risks and Safeguards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41289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Responsible AI in healthcare requires acknowledging limitations and building guardrails into every layer of the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2097" y="2213273"/>
            <a:ext cx="5474059" cy="3805734"/>
          </a:xfrm>
          <a:prstGeom prst="roundRect">
            <a:avLst>
              <a:gd name="adj" fmla="val 3397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1579" y="2383830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Risks to Manage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579" y="2856210"/>
            <a:ext cx="5115095" cy="6898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8058" y="3061097"/>
            <a:ext cx="460373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AI-generated summaries may be incomplete or inaccurate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79" y="3716635"/>
            <a:ext cx="5115095" cy="9699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8058" y="3921522"/>
            <a:ext cx="460373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Incorrect rules can cause claim errors or compliance problems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79" y="4857155"/>
            <a:ext cx="5115095" cy="9699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8058" y="5062041"/>
            <a:ext cx="460373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Healthcare teams require full traceability and human review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321267" y="2383830"/>
            <a:ext cx="306429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7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Built-In Safeguards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6321267" y="2856210"/>
            <a:ext cx="2522375" cy="1382911"/>
          </a:xfrm>
          <a:prstGeom prst="roundRect">
            <a:avLst>
              <a:gd name="adj" fmla="val 5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507099" y="3042047"/>
            <a:ext cx="21507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Source References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6507099" y="3493095"/>
            <a:ext cx="215071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output links back to original text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14195" y="2856210"/>
            <a:ext cx="2522375" cy="1382911"/>
          </a:xfrm>
          <a:prstGeom prst="roundRect">
            <a:avLst>
              <a:gd name="adj" fmla="val 5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200027" y="3042047"/>
            <a:ext cx="21507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Approval Workflow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200027" y="3493095"/>
            <a:ext cx="215071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Rules require human sign-off before use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21267" y="4409678"/>
            <a:ext cx="2522375" cy="1382911"/>
          </a:xfrm>
          <a:prstGeom prst="roundRect">
            <a:avLst>
              <a:gd name="adj" fmla="val 5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507099" y="4595515"/>
            <a:ext cx="21507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Audit Activity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6507099" y="5046563"/>
            <a:ext cx="215071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activity logs for compliance traceability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14195" y="4409678"/>
            <a:ext cx="2522375" cy="1382911"/>
          </a:xfrm>
          <a:prstGeom prst="roundRect">
            <a:avLst>
              <a:gd name="adj" fmla="val 5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200027" y="4595515"/>
            <a:ext cx="21507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Role-Based Access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9200027" y="5046563"/>
            <a:ext cx="215071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Controlled permissions by user role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35E570-906E-B05F-03B3-7E6364330BBC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DC3DCE5-9D81-D9EB-883A-2FD46A16DD9B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1416439B-3DC7-001B-4C06-1130076B36B1}"/>
              </a:ext>
            </a:extLst>
          </p:cNvPr>
          <p:cNvSpPr/>
          <p:nvPr/>
        </p:nvSpPr>
        <p:spPr>
          <a:xfrm>
            <a:off x="558438" y="364295"/>
            <a:ext cx="997202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VitaLex POC: A Working Proof of Concept</a:t>
            </a:r>
            <a:endParaRPr lang="en-US" sz="37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72CE15B-0E93-2C33-CED7-F99AA2746F11}"/>
              </a:ext>
            </a:extLst>
          </p:cNvPr>
          <p:cNvSpPr/>
          <p:nvPr/>
        </p:nvSpPr>
        <p:spPr>
          <a:xfrm>
            <a:off x="558438" y="106835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VitaLex demonstrates how healthcare policy content can be transformed into governed, explainable, and actionable intelligence — all within a single platform.</a:t>
            </a:r>
            <a:endParaRPr lang="en-US" sz="1450" dirty="0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9B5C620A-B763-D837-3200-09538C78F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38" y="1880394"/>
            <a:ext cx="378014" cy="378023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3EFDF7B0-D187-22BC-0E68-1EDA142880AF}"/>
              </a:ext>
            </a:extLst>
          </p:cNvPr>
          <p:cNvSpPr/>
          <p:nvPr/>
        </p:nvSpPr>
        <p:spPr>
          <a:xfrm>
            <a:off x="1109832" y="192176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Document Upload</a:t>
            </a:r>
            <a:endParaRPr lang="en-US" sz="185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23A0E39-89BE-C7DD-AFE8-FAC818059ED1}"/>
              </a:ext>
            </a:extLst>
          </p:cNvPr>
          <p:cNvSpPr/>
          <p:nvPr/>
        </p:nvSpPr>
        <p:spPr>
          <a:xfrm>
            <a:off x="558438" y="229094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Supports PDF, DOCX, and TXT healthcare documents with metadata storage</a:t>
            </a:r>
            <a:endParaRPr lang="en-US" sz="1450" dirty="0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468E890E-A72E-5E05-C068-8A43C2B29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0097" y="1839019"/>
            <a:ext cx="378014" cy="378023"/>
          </a:xfrm>
          <a:prstGeom prst="rect">
            <a:avLst/>
          </a:prstGeom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4971B7CF-5495-58D7-B5AE-09CDAA005545}"/>
              </a:ext>
            </a:extLst>
          </p:cNvPr>
          <p:cNvSpPr/>
          <p:nvPr/>
        </p:nvSpPr>
        <p:spPr>
          <a:xfrm>
            <a:off x="4811491" y="188981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Summarization</a:t>
            </a:r>
            <a:endParaRPr lang="en-US" sz="18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DECFC7-A787-6AB7-33B8-77D39B768EEE}"/>
              </a:ext>
            </a:extLst>
          </p:cNvPr>
          <p:cNvSpPr/>
          <p:nvPr/>
        </p:nvSpPr>
        <p:spPr>
          <a:xfrm>
            <a:off x="4260098" y="22783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Generates concise summaries from policy text using Google Gemini</a:t>
            </a:r>
            <a:endParaRPr lang="en-US" sz="1450" dirty="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B7B30174-736F-BD9D-2695-D5461F2BE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757" y="1852684"/>
            <a:ext cx="378014" cy="378023"/>
          </a:xfrm>
          <a:prstGeom prst="rect">
            <a:avLst/>
          </a:prstGeom>
        </p:spPr>
      </p:pic>
      <p:sp>
        <p:nvSpPr>
          <p:cNvPr id="37" name="Text 6">
            <a:extLst>
              <a:ext uri="{FF2B5EF4-FFF2-40B4-BE49-F238E27FC236}">
                <a16:creationId xmlns:a16="http://schemas.microsoft.com/office/drawing/2014/main" id="{7372FC57-A69A-99E4-2878-6FC04B74569E}"/>
              </a:ext>
            </a:extLst>
          </p:cNvPr>
          <p:cNvSpPr/>
          <p:nvPr/>
        </p:nvSpPr>
        <p:spPr>
          <a:xfrm>
            <a:off x="8513151" y="193282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Structured Rules</a:t>
            </a:r>
            <a:endParaRPr lang="en-US" sz="185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30FB76A-92A2-3440-E73F-C0FB512AFA39}"/>
              </a:ext>
            </a:extLst>
          </p:cNvPr>
          <p:cNvSpPr/>
          <p:nvPr/>
        </p:nvSpPr>
        <p:spPr>
          <a:xfrm>
            <a:off x="8014550" y="230947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Converts written policy language into structured, exportable rules</a:t>
            </a:r>
            <a:endParaRPr lang="en-US" sz="14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B7152E5-08DB-4437-ED1C-0197FA12A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452" y="2993079"/>
            <a:ext cx="10266954" cy="3769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634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2930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document upload to governed rule output — VitaLex streamlines the entire policy intelligence lifecycle in six steps.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3" y="2004913"/>
            <a:ext cx="9994551" cy="3750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992" y="48449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Approve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74179" y="48449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84689" y="4699721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Generate Rules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495200" y="48449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Summary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64411" y="48449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Upload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475" y="5947271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Key outputs are tracked, auditable, and can move through human review before rules are finalized. 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9A6A6-F189-10EA-EC92-267A805E444B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600079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Architecture &amp; Tech Stack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45" y="1306286"/>
            <a:ext cx="5141869" cy="5141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438374"/>
            <a:ext cx="274501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Choices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1876326"/>
            <a:ext cx="2536861" cy="206603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0546" y="2019697"/>
            <a:ext cx="255085" cy="2550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98765" y="2558752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498765" y="2977555"/>
            <a:ext cx="215864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Next.js, TypeScript, Tailwind CSS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1876326"/>
            <a:ext cx="2536960" cy="206603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0498" y="2019697"/>
            <a:ext cx="255085" cy="25509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188716" y="2558752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 &amp; Storage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9188716" y="2977555"/>
            <a:ext cx="215874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Supabase database and file storage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4095452"/>
            <a:ext cx="2536861" cy="2066032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0546" y="4238823"/>
            <a:ext cx="255085" cy="25509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498765" y="4777879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Engine</a:t>
            </a:r>
            <a:endParaRPr lang="en-US" sz="1650" dirty="0"/>
          </a:p>
        </p:txBody>
      </p:sp>
      <p:sp>
        <p:nvSpPr>
          <p:cNvPr id="16" name="Text 7"/>
          <p:cNvSpPr/>
          <p:nvPr/>
        </p:nvSpPr>
        <p:spPr>
          <a:xfrm>
            <a:off x="6498765" y="5196681"/>
            <a:ext cx="215864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Google Gemini API for summarization, comparison, and rule generation.</a:t>
            </a:r>
            <a:endParaRPr lang="en-US" sz="13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4095452"/>
            <a:ext cx="2536960" cy="206603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40498" y="4238823"/>
            <a:ext cx="255085" cy="255091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188716" y="4777879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9188716" y="5196681"/>
            <a:ext cx="215874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 err="1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Vercel</a:t>
            </a: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deployment and GitHub for version control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DCA9F-FB2E-B2C7-C949-63F9849F2FA0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337E-0671-A312-D962-C5A089EB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D342D15-A4D8-1ECF-17D9-35043AA8999E}"/>
              </a:ext>
            </a:extLst>
          </p:cNvPr>
          <p:cNvSpPr/>
          <p:nvPr/>
        </p:nvSpPr>
        <p:spPr>
          <a:xfrm>
            <a:off x="5233360" y="574873"/>
            <a:ext cx="5367501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Strategic Value for Cotiviti</a:t>
            </a:r>
            <a:endParaRPr lang="en-US" sz="2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FD76CC-9650-B1EC-2D9D-6556B64C84E5}"/>
              </a:ext>
            </a:extLst>
          </p:cNvPr>
          <p:cNvSpPr/>
          <p:nvPr/>
        </p:nvSpPr>
        <p:spPr>
          <a:xfrm>
            <a:off x="5233360" y="1215827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VitaLex demonstrates how healthcare policy content can become governed, explainable, and actionable intelligence — directly supporting Cotiviti's mission.</a:t>
            </a:r>
            <a:endParaRPr lang="en-US" sz="11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FAFF40B-FF64-3EDF-9022-3EDC987E5705}"/>
              </a:ext>
            </a:extLst>
          </p:cNvPr>
          <p:cNvSpPr/>
          <p:nvPr/>
        </p:nvSpPr>
        <p:spPr>
          <a:xfrm>
            <a:off x="5233360" y="1773337"/>
            <a:ext cx="6296860" cy="825897"/>
          </a:xfrm>
          <a:prstGeom prst="roundRect">
            <a:avLst>
              <a:gd name="adj" fmla="val 75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C63836E-8244-ECF6-4D58-71E11E3ACB10}"/>
              </a:ext>
            </a:extLst>
          </p:cNvPr>
          <p:cNvSpPr/>
          <p:nvPr/>
        </p:nvSpPr>
        <p:spPr>
          <a:xfrm>
            <a:off x="5388535" y="1928515"/>
            <a:ext cx="19293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Faster Policy Analysis</a:t>
            </a:r>
            <a:endParaRPr lang="en-US" sz="14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0AF4FC-CD8B-37C1-AEC4-B0F660008E0C}"/>
              </a:ext>
            </a:extLst>
          </p:cNvPr>
          <p:cNvSpPr/>
          <p:nvPr/>
        </p:nvSpPr>
        <p:spPr>
          <a:xfrm>
            <a:off x="5388535" y="2231231"/>
            <a:ext cx="59865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Accelerate review of payer policies and contracts</a:t>
            </a:r>
            <a:endParaRPr lang="en-US" sz="11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AA6C6BE-81D1-D4F3-7293-0FE15D5F3C6A}"/>
              </a:ext>
            </a:extLst>
          </p:cNvPr>
          <p:cNvSpPr/>
          <p:nvPr/>
        </p:nvSpPr>
        <p:spPr>
          <a:xfrm>
            <a:off x="5233360" y="2716411"/>
            <a:ext cx="6296860" cy="825897"/>
          </a:xfrm>
          <a:prstGeom prst="roundRect">
            <a:avLst>
              <a:gd name="adj" fmla="val 75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E8385F-40E7-4EC1-3D17-DB5FD19DD8D2}"/>
              </a:ext>
            </a:extLst>
          </p:cNvPr>
          <p:cNvSpPr/>
          <p:nvPr/>
        </p:nvSpPr>
        <p:spPr>
          <a:xfrm>
            <a:off x="5388535" y="2871589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Payment Accuracy</a:t>
            </a:r>
            <a:endParaRPr lang="en-US" sz="14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F227E80-E3CE-2BFA-BCB2-C3B15619AA6D}"/>
              </a:ext>
            </a:extLst>
          </p:cNvPr>
          <p:cNvSpPr/>
          <p:nvPr/>
        </p:nvSpPr>
        <p:spPr>
          <a:xfrm>
            <a:off x="5388535" y="3174305"/>
            <a:ext cx="59865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Strengthen billing and coding logic with consistent rule generation</a:t>
            </a:r>
            <a:endParaRPr lang="en-US" sz="11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654AD3F-B86B-290A-73E0-6BEE532AAAD9}"/>
              </a:ext>
            </a:extLst>
          </p:cNvPr>
          <p:cNvSpPr/>
          <p:nvPr/>
        </p:nvSpPr>
        <p:spPr>
          <a:xfrm>
            <a:off x="5233360" y="3659485"/>
            <a:ext cx="6296860" cy="825897"/>
          </a:xfrm>
          <a:prstGeom prst="roundRect">
            <a:avLst>
              <a:gd name="adj" fmla="val 75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42546E5-7118-A50B-E72C-5EE89CEA97F7}"/>
              </a:ext>
            </a:extLst>
          </p:cNvPr>
          <p:cNvSpPr/>
          <p:nvPr/>
        </p:nvSpPr>
        <p:spPr>
          <a:xfrm>
            <a:off x="5388535" y="3814663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Audit Readiness</a:t>
            </a:r>
            <a:endParaRPr lang="en-US" sz="14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5DE5AD3-C135-E614-A273-7204C0ADF509}"/>
              </a:ext>
            </a:extLst>
          </p:cNvPr>
          <p:cNvSpPr/>
          <p:nvPr/>
        </p:nvSpPr>
        <p:spPr>
          <a:xfrm>
            <a:off x="5388535" y="4117380"/>
            <a:ext cx="59865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traceability and approval workflows support compliance</a:t>
            </a:r>
            <a:endParaRPr lang="en-US" sz="11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4BF59DD-81EA-1942-944F-DC337EF89CD9}"/>
              </a:ext>
            </a:extLst>
          </p:cNvPr>
          <p:cNvSpPr/>
          <p:nvPr/>
        </p:nvSpPr>
        <p:spPr>
          <a:xfrm>
            <a:off x="5233360" y="4602559"/>
            <a:ext cx="6296860" cy="825897"/>
          </a:xfrm>
          <a:prstGeom prst="roundRect">
            <a:avLst>
              <a:gd name="adj" fmla="val 75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E5FDB8E-8B31-822E-9F7C-FC3D70CE3C9F}"/>
              </a:ext>
            </a:extLst>
          </p:cNvPr>
          <p:cNvSpPr/>
          <p:nvPr/>
        </p:nvSpPr>
        <p:spPr>
          <a:xfrm>
            <a:off x="5388535" y="4757738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Alignment</a:t>
            </a:r>
            <a:endParaRPr lang="en-US" sz="14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07E7AEB-413B-E1C7-1EBE-55396C92F2E5}"/>
              </a:ext>
            </a:extLst>
          </p:cNvPr>
          <p:cNvSpPr/>
          <p:nvPr/>
        </p:nvSpPr>
        <p:spPr>
          <a:xfrm>
            <a:off x="5388535" y="5060454"/>
            <a:ext cx="59865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Bridge policy experts, analysts, and engineering teams</a:t>
            </a:r>
            <a:endParaRPr lang="en-US" sz="11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96C4D45-E530-7C00-A6CF-8685D9AB3C62}"/>
              </a:ext>
            </a:extLst>
          </p:cNvPr>
          <p:cNvSpPr/>
          <p:nvPr/>
        </p:nvSpPr>
        <p:spPr>
          <a:xfrm>
            <a:off x="5233360" y="5560318"/>
            <a:ext cx="6296860" cy="722709"/>
          </a:xfrm>
          <a:prstGeom prst="roundRect">
            <a:avLst>
              <a:gd name="adj" fmla="val 8650"/>
            </a:avLst>
          </a:prstGeom>
          <a:solidFill>
            <a:srgbClr val="E4E4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077E604F-B877-A9FE-4102-5FE7B000B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185" y="5762129"/>
            <a:ext cx="186031" cy="148828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894CB8FB-2262-96EE-EC85-10236A11572C}"/>
              </a:ext>
            </a:extLst>
          </p:cNvPr>
          <p:cNvSpPr/>
          <p:nvPr/>
        </p:nvSpPr>
        <p:spPr>
          <a:xfrm>
            <a:off x="5717040" y="5714702"/>
            <a:ext cx="566435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opportunity:</a:t>
            </a:r>
            <a:r>
              <a:rPr lang="en-US" sz="11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Transform healthcare content from static documents into governed, explainable, and actionable rules.</a:t>
            </a:r>
            <a:endParaRPr lang="en-US" sz="11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52F98C-6944-505B-7F75-1505876D035F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6718EF-B283-02A3-9362-BDAE45A68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5" y="227369"/>
            <a:ext cx="4604557" cy="640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2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929" y="822885"/>
            <a:ext cx="6362780" cy="95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2929" y="2096492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Demo: </a:t>
            </a:r>
            <a:r>
              <a:rPr lang="en-US" sz="1400" b="1" u="sng" dirty="0">
                <a:solidFill>
                  <a:srgbClr val="62626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https://vitalex.vercel.app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 Repository: </a:t>
            </a:r>
            <a:r>
              <a:rPr lang="en-US" sz="1400" b="1" u="sng" dirty="0">
                <a:solidFill>
                  <a:srgbClr val="62626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https://github.com/RajK158/VitaLex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 Kundur,</a:t>
            </a:r>
            <a:b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California State University, Long Beach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5AF71-2F76-2C7D-8264-68EF4A72957A}"/>
              </a:ext>
            </a:extLst>
          </p:cNvPr>
          <p:cNvSpPr/>
          <p:nvPr/>
        </p:nvSpPr>
        <p:spPr>
          <a:xfrm>
            <a:off x="10972800" y="6419255"/>
            <a:ext cx="1219199" cy="411035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2626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628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 Light</vt:lpstr>
      <vt:lpstr>Roboto Bold</vt:lpstr>
      <vt:lpstr>Arial</vt:lpstr>
      <vt:lpstr>Roboto Light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 Kundur</dc:creator>
  <cp:lastModifiedBy>Raj Kundur</cp:lastModifiedBy>
  <cp:revision>7</cp:revision>
  <dcterms:created xsi:type="dcterms:W3CDTF">2026-07-06T02:11:40Z</dcterms:created>
  <dcterms:modified xsi:type="dcterms:W3CDTF">2026-07-06T23:09:34Z</dcterms:modified>
</cp:coreProperties>
</file>